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58" r:id="rId5"/>
    <p:sldId id="259" r:id="rId6"/>
    <p:sldId id="260" r:id="rId7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40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AED9A8-5C8D-4431-A5F4-8C33E90860AB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313F1-1FB8-4F83-8BC6-DAB5B44D1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075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85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000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37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815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731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802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676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18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06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139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6180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94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7261" y="700412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800" dirty="0" smtClean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Privacy-Preserving DeFi Risk Verification (WalletShield)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3158" y="715652"/>
            <a:ext cx="21945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 sz="130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  <a:endParaRPr lang="en-IN" b="1" dirty="0">
              <a:solidFill>
                <a:schemeClr val="accent6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83464" y="1109867"/>
            <a:ext cx="11430000" cy="502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None/>
            </a:pPr>
            <a:r>
              <a:rPr lang="en-IN" sz="1000" dirty="0" smtClean="0">
                <a:latin typeface="SamsungOne 600C" panose="020B0706030303020204" pitchFamily="34" charset="0"/>
                <a:ea typeface="SamsungOne 600C" panose="020B0706030303020204" pitchFamily="34" charset="0"/>
                <a:solidFill>
                  <a:srgbClr val="FFFFFF"/>
                </a:solidFill>
              </a:rPr>
              <a:t>Worklet ID: SRIB-PRISM-2025-FHE-04</a:t>
            </a:r>
          </a:p>
          <a:p>
            <a:pPr marL="228600" indent="-228600">
              <a:buNone/>
            </a:pPr>
            <a:r>
              <a:rPr lang="en-IN" sz="1000" dirty="0" smtClean="0">
                <a:latin typeface="SamsungOne 600C" panose="020B0706030303020204" pitchFamily="34" charset="0"/>
                <a:ea typeface="SamsungOne 600C" panose="020B0706030303020204" pitchFamily="34" charset="0"/>
                <a:solidFill>
                  <a:srgbClr val="FFFFFF"/>
                </a:solidFill>
              </a:rPr>
              <a:t>College Name: SRM Institute of Science and Technology, Kattankulathur</a:t>
            </a:r>
          </a:p>
          <a:p>
            <a:pPr marL="228600" indent="-228600">
              <a:buNone/>
            </a:pPr>
            <a:r>
              <a:rPr lang="en-IN" sz="1000" dirty="0" smtClean="0">
                <a:latin typeface="SamsungOne 600C" panose="020B0706030303020204" pitchFamily="34" charset="0"/>
                <a:ea typeface="SamsungOne 600C" panose="020B0706030303020204" pitchFamily="34" charset="0"/>
                <a:solidFill>
                  <a:srgbClr val="FFFFFF"/>
                </a:solidFill>
              </a:rPr>
              <a:t>Students: Praful, Utkarsh, Dhanush, Karthikeya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67262" y="4195157"/>
            <a:ext cx="5867778" cy="1813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67261" y="2037123"/>
            <a:ext cx="5867779" cy="19865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457200"/>
          <a:lstStyle/>
          <a:p>
            <a:pPr marL="93663" lvl="1"/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Researched FHE libraries (SEAL, PALISADE, and Zama Concrete ML).</a:t>
            </a:r>
          </a:p>
          <a:p>
            <a:pPr marL="93663" lvl="1"/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Selected Zama Concrete ML as the core FHE library due to native sklearn ML model compilation.</a:t>
            </a:r>
          </a:p>
          <a:p>
            <a:pPr marL="93663" lvl="1"/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Finalized the project scope: Pivot from generic transaction fraud to DeFi pre-transaction risk gating.</a:t>
            </a:r>
          </a:p>
          <a:p>
            <a:pPr marL="93663" lvl="1"/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Finalized the 6-feature risk heuristic formula.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7262" y="4262103"/>
            <a:ext cx="5867778" cy="1727217"/>
          </a:xfrm>
          <a:prstGeom prst="rect">
            <a:avLst/>
          </a:prstGeom>
        </p:spPr>
        <p:txBody>
          <a:bodyPr wrap="square" anchor="t"/>
          <a:lstStyle/>
          <a:p>
            <a:r>
              <a:rPr lang="en-IN" b="1" dirty="0" smtClean="0" sz="13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Next Steps </a:t>
            </a:r>
          </a:p>
          <a:p>
            <a:endParaRPr lang="en-IN" b="1" dirty="0" smtClean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69875" indent="-269875"/>
            <a:r>
              <a:rPr lang="en-IN" sz="11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Generate a synthetic training dataset of 10,000 DeFi staking profiles.</a:t>
            </a:r>
          </a:p>
          <a:p>
            <a:pPr marL="269875" indent="-269875"/>
            <a:r>
              <a:rPr lang="en-IN" sz="11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Implement and compile the quantized 6-feature Logistic Regression model.</a:t>
            </a:r>
          </a:p>
          <a:p>
            <a:pPr marL="269875" indent="-269875"/>
            <a:r>
              <a:rPr lang="en-IN" sz="11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Design the split-enclave architecture (local client daemon + backend server).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768" y="2110196"/>
            <a:ext cx="22605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 sz="12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KPIs achieved till now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139991" y="4205097"/>
            <a:ext cx="5867778" cy="17984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457200"/>
          <a:lstStyle/>
          <a:p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Recapped Phase 1 and reviewed SRIB mentor feedback.</a:t>
            </a:r>
          </a:p>
          <a:p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Selected a concrete set of 8 target protocols across 3 risk tiers (Aave, GMX, Lido, etc.).</a:t>
            </a:r>
          </a:p>
          <a:p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Requirements document and high-level system design document finalized and submitted.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39991" y="4277046"/>
            <a:ext cx="3720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 sz="12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Key Achievements/ Outcome till now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181044" y="2037123"/>
            <a:ext cx="5867778" cy="19865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457200"/>
          <a:lstStyle/>
          <a:p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High execution overhead of traditional FHE libraries on client devices.</a:t>
            </a:r>
          </a:p>
          <a:p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Quantization of floating-point features into integers causes noise issues in FHE circuits.</a:t>
            </a:r>
          </a:p>
          <a:p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Difficulty mapping public smart contract risk factors to private wallet inputs.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39991" y="2116292"/>
            <a:ext cx="3070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 sz="12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Any Challenges/ Issues faced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40112" y="6489192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 smtClean="0" sz="1300">
                <a:latin typeface="SamsungOne 600C" panose="020B0706030303020204" pitchFamily="34" charset="0"/>
                <a:ea typeface="SamsungOne 600C" panose="020B0706030303020204" pitchFamily="34" charset="0"/>
              </a:rPr>
              <a:t>Date: 28-02-2026</a:t>
            </a:r>
          </a:p>
        </p:txBody>
      </p:sp>
    </p:spTree>
    <p:extLst>
      <p:ext uri="{BB962C8B-B14F-4D97-AF65-F5344CB8AC3E}">
        <p14:creationId xmlns:p14="http://schemas.microsoft.com/office/powerpoint/2010/main" val="1844431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7261" y="700412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800" dirty="0" smtClean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Privacy-Preserving DeFi Risk Verification (WalletShield)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3158" y="715652"/>
            <a:ext cx="21945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 sz="130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  <a:endParaRPr lang="en-IN" b="1" dirty="0">
              <a:solidFill>
                <a:schemeClr val="accent6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83464" y="1109867"/>
            <a:ext cx="11430000" cy="502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None/>
            </a:pPr>
            <a:r>
              <a:rPr lang="en-IN" sz="1000" dirty="0" smtClean="0">
                <a:latin typeface="SamsungOne 600C" panose="020B0706030303020204" pitchFamily="34" charset="0"/>
                <a:ea typeface="SamsungOne 600C" panose="020B0706030303020204" pitchFamily="34" charset="0"/>
                <a:solidFill>
                  <a:srgbClr val="FFFFFF"/>
                </a:solidFill>
              </a:rPr>
              <a:t>Worklet ID: SRIB-PRISM-2025-FHE-04</a:t>
            </a:r>
          </a:p>
          <a:p>
            <a:pPr marL="228600" indent="-228600">
              <a:buNone/>
            </a:pPr>
            <a:r>
              <a:rPr lang="en-IN" sz="1000" dirty="0" smtClean="0">
                <a:latin typeface="SamsungOne 600C" panose="020B0706030303020204" pitchFamily="34" charset="0"/>
                <a:ea typeface="SamsungOne 600C" panose="020B0706030303020204" pitchFamily="34" charset="0"/>
                <a:solidFill>
                  <a:srgbClr val="FFFFFF"/>
                </a:solidFill>
              </a:rPr>
              <a:t>College Name: SRM Institute of Science and Technology, Kattankulathur</a:t>
            </a:r>
          </a:p>
          <a:p>
            <a:pPr marL="228600" indent="-228600">
              <a:buNone/>
            </a:pPr>
            <a:r>
              <a:rPr lang="en-IN" sz="1000" dirty="0" smtClean="0">
                <a:latin typeface="SamsungOne 600C" panose="020B0706030303020204" pitchFamily="34" charset="0"/>
                <a:ea typeface="SamsungOne 600C" panose="020B0706030303020204" pitchFamily="34" charset="0"/>
                <a:solidFill>
                  <a:srgbClr val="FFFFFF"/>
                </a:solidFill>
              </a:rPr>
              <a:t>Students: Praful, Utkarsh, Dhanush, Karthikeya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67262" y="4195157"/>
            <a:ext cx="5867778" cy="1813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67261" y="2037123"/>
            <a:ext cx="5867779" cy="19865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457200"/>
          <a:lstStyle/>
          <a:p>
            <a:pPr marL="93663" lvl="1"/>
            <a:r>
              <a:rPr lang="en-IN" sz="10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Compute Resources: Local developer laptops (x4) with Apple Silicon / Intel Core i7, 16GB RAM for local FHE environment setup. Status: Fully available.</a:t>
            </a:r>
          </a:p>
          <a:p>
            <a:pPr marL="93663" lvl="1"/>
            <a:r>
              <a:rPr lang="en-IN" sz="10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Cloud Compute: Google Colab Pro access planned for parallel model compilation and testing. Status: Active.</a:t>
            </a:r>
          </a:p>
          <a:p>
            <a:pPr marL="93663" lvl="1"/>
            <a:r>
              <a:rPr lang="en-IN" sz="10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Software: Python 3.10 virtual environments, Node.js 18+ runtime, Hardhat Solidity Framework. Status: Configured and installed.</a:t>
            </a:r>
          </a:p>
          <a:p>
            <a:pPr marL="93663" lvl="1"/>
            <a:r>
              <a:rPr lang="en-IN" sz="10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APIs: Etherscan Developer API keys and DeFiLlama REST API endpoints. Status: API keys acquired.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7262" y="4262103"/>
            <a:ext cx="5867778" cy="1476248"/>
          </a:xfrm>
          <a:prstGeom prst="rect">
            <a:avLst/>
          </a:prstGeom>
        </p:spPr>
        <p:txBody>
          <a:bodyPr wrap="square" anchor="t"/>
          <a:lstStyle/>
          <a:p>
            <a:r>
              <a:rPr lang="en-IN" b="1" dirty="0" smtClean="0" sz="13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Any Anticipated Break (Due to exams </a:t>
            </a:r>
            <a:r>
              <a:rPr lang="en-IN" b="1" dirty="0" err="1" smtClean="0" sz="13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etc</a:t>
            </a:r>
            <a:r>
              <a:rPr lang="en-IN" b="1" dirty="0" smtClean="0" sz="13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)</a:t>
            </a:r>
          </a:p>
          <a:p>
            <a:endParaRPr lang="en-IN" b="1" dirty="0" smtClean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69875" indent="-269875"/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University mid-semester theory and practical exams are scheduled from March 5th to March 12th.</a:t>
            </a:r>
          </a:p>
          <a:p>
            <a:pPr marL="269875" indent="-269875"/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Anticipated 7-day academic break where direct dev work will pause, but asynchronous design review will continue.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768" y="2110196"/>
            <a:ext cx="41119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z="11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Resource Requirement Identified with Status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39991" y="4205097"/>
            <a:ext cx="5867778" cy="17984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457200"/>
          <a:lstStyle/>
          <a:p>
            <a:r>
              <a:rPr lang="en-IN" sz="9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Dataset Source: Public smart contract details scraped from Etherscan V2 API and TVL/Reputation historical data from DeFiLlama API.</a:t>
            </a:r>
          </a:p>
          <a:p>
            <a:r>
              <a:rPr lang="en-IN" sz="9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Self-Collected Data: No user-identifiable data is collected. All user features are synthetic.</a:t>
            </a:r>
          </a:p>
          <a:p>
            <a:r>
              <a:rPr lang="en-IN" sz="9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Consent Forms: Not applicable as no human subjects or private user data are used.</a:t>
            </a:r>
          </a:p>
          <a:p>
            <a:r>
              <a:rPr lang="en-IN" sz="9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Dataset Link: Open-source contract address mapping list and TVL metrics cache folder stored at /backend/analyzer.py for fallback.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39991" y="4277046"/>
            <a:ext cx="2618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 sz="12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Data Collection Information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181044" y="2037123"/>
            <a:ext cx="5867778" cy="19865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457200"/>
          <a:lstStyle/>
          <a:p>
            <a:r>
              <a:rPr lang="en-IN" sz="11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Github Repository: https://github.com/Samsung-PRISM/WalletShield-FHE</a:t>
            </a:r>
          </a:p>
          <a:p>
            <a:r>
              <a:rPr lang="en-IN" sz="11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Registration Status: Successfully registered on the PRISM Portal; team member profiles linked; SRIB mentor-student communication channel established.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39991" y="2116292"/>
            <a:ext cx="5658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 sz="11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Github</a:t>
            </a:r>
            <a:r>
              <a:rPr lang="en-IN" b="1" dirty="0" smtClean="0" sz="11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 Repository Link and PRISM Portal Registration Status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40112" y="6489192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 smtClean="0" sz="1300">
                <a:latin typeface="SamsungOne 600C" panose="020B0706030303020204" pitchFamily="34" charset="0"/>
                <a:ea typeface="SamsungOne 600C" panose="020B0706030303020204" pitchFamily="34" charset="0"/>
              </a:rPr>
              <a:t>Date: 28-02-2026</a:t>
            </a:r>
          </a:p>
        </p:txBody>
      </p:sp>
    </p:spTree>
    <p:extLst>
      <p:ext uri="{BB962C8B-B14F-4D97-AF65-F5344CB8AC3E}">
        <p14:creationId xmlns:p14="http://schemas.microsoft.com/office/powerpoint/2010/main" val="3840787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7261" y="700412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800" dirty="0" smtClean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Privacy-Preserving DeFi Risk Verification (WalletShield)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3158" y="715652"/>
            <a:ext cx="21945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 sz="130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  <a:endParaRPr lang="en-IN" b="1" dirty="0">
              <a:solidFill>
                <a:schemeClr val="accent6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83464" y="1109867"/>
            <a:ext cx="11430000" cy="502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None/>
            </a:pPr>
            <a:r>
              <a:rPr lang="en-IN" sz="1000" dirty="0" smtClean="0">
                <a:latin typeface="SamsungOne 600C" panose="020B0706030303020204" pitchFamily="34" charset="0"/>
                <a:ea typeface="SamsungOne 600C" panose="020B0706030303020204" pitchFamily="34" charset="0"/>
                <a:solidFill>
                  <a:srgbClr val="FFFFFF"/>
                </a:solidFill>
              </a:rPr>
              <a:t>Worklet ID: SRIB-PRISM-2025-FHE-04</a:t>
            </a:r>
          </a:p>
          <a:p>
            <a:pPr marL="228600" indent="-228600">
              <a:buNone/>
            </a:pPr>
            <a:r>
              <a:rPr lang="en-IN" sz="1000" dirty="0" smtClean="0">
                <a:latin typeface="SamsungOne 600C" panose="020B0706030303020204" pitchFamily="34" charset="0"/>
                <a:ea typeface="SamsungOne 600C" panose="020B0706030303020204" pitchFamily="34" charset="0"/>
                <a:solidFill>
                  <a:srgbClr val="FFFFFF"/>
                </a:solidFill>
              </a:rPr>
              <a:t>College Name: SRM Institute of Science and Technology, Kattankulathur</a:t>
            </a:r>
          </a:p>
          <a:p>
            <a:pPr marL="228600" indent="-228600">
              <a:buNone/>
            </a:pPr>
            <a:r>
              <a:rPr lang="en-IN" sz="1000" dirty="0" smtClean="0">
                <a:latin typeface="SamsungOne 600C" panose="020B0706030303020204" pitchFamily="34" charset="0"/>
                <a:ea typeface="SamsungOne 600C" panose="020B0706030303020204" pitchFamily="34" charset="0"/>
                <a:solidFill>
                  <a:srgbClr val="FFFFFF"/>
                </a:solidFill>
              </a:rPr>
              <a:t>Students: Praful, Utkarsh, Dhanush, Karthikeya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167261" y="2037123"/>
            <a:ext cx="11840507" cy="20161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marL="93663" lvl="1"/>
            <a:r>
              <a:rPr lang="en-IN" sz="10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Status &amp; Future Plan: Kickoff phase complete. Focus is shifting from literature review to model prototyping. Next step is creating the synthetic DeFi profile dataset and drafting requirements.</a:t>
            </a:r>
          </a:p>
          <a:p>
            <a:pPr marL="93663" lvl="1"/>
            <a:r>
              <a:rPr lang="en-IN" sz="10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Literature Review: Reviewed Zama’s TFHE (Torus FHE) scheme and Concrete ML. Found that 6-bit quantization is optimal for security-accuracy trade-offs in Logistic Regression.</a:t>
            </a:r>
          </a:p>
          <a:p>
            <a:pPr marL="93663" lvl="1"/>
            <a:r>
              <a:rPr lang="en-IN" sz="10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Expert Insights: SRIB mentors advised isolating the FHE private keys strictly on the user’s local system (browser memory or local daemon) so the backend executes blind computation and cannot access plaintext values.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" y="3246120"/>
            <a:ext cx="11612880" cy="741171"/>
          </a:xfrm>
          <a:prstGeom prst="rect">
            <a:avLst/>
          </a:prstGeom>
        </p:spPr>
        <p:txBody>
          <a:bodyPr wrap="square" anchor="t" tIns="36576"/>
          <a:lstStyle/>
          <a:p>
            <a:r>
              <a:rPr lang="en-IN" b="1" dirty="0" smtClean="0" sz="12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Professor Comments (To be filled in and presented by professor </a:t>
            </a:r>
            <a:r>
              <a:rPr lang="en-IN" b="1" smtClean="0" sz="12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(Either)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r>
              <a:rPr lang="en-IN" b="1" dirty="0" smtClean="0" sz="11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The design direction for DeFi risk gating addresses a critical privacy gap in transaction auditing. The proposed architecture is approved. Focus on ensuring strict key isolation in the client daemon.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40112" y="6489192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 smtClean="0" sz="1300">
                <a:latin typeface="SamsungOne 600C" panose="020B0706030303020204" pitchFamily="34" charset="0"/>
                <a:ea typeface="SamsungOne 600C" panose="020B0706030303020204" pitchFamily="34" charset="0"/>
              </a:rPr>
              <a:t>Date: 28-02-2026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7260" y="4172422"/>
            <a:ext cx="11840507" cy="22637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lvl="1"/>
            <a:endParaRPr lang="en-IN" sz="12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26025" y="4286119"/>
            <a:ext cx="3229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 sz="12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COMPUTATION RESOURCE Details: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37966" y="4701617"/>
            <a:ext cx="11430000" cy="567944"/>
          </a:xfrm>
          <a:prstGeom prst="rect">
            <a:avLst/>
          </a:prstGeom>
        </p:spPr>
        <p:txBody>
          <a:bodyPr wrap="square" anchor="t" tIns="36576"/>
          <a:lstStyle/>
          <a:p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Google Colab Pro (12GB VRAM GPU) for model training and simulation.</a:t>
            </a:r>
          </a:p>
          <a:p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Local Intel Core i7 (8 compute hours/day) for local Hardhat node deployment and FHE client daemon testing.</a:t>
            </a:r>
          </a:p>
        </p:txBody>
      </p:sp>
    </p:spTree>
    <p:extLst>
      <p:ext uri="{BB962C8B-B14F-4D97-AF65-F5344CB8AC3E}">
        <p14:creationId xmlns:p14="http://schemas.microsoft.com/office/powerpoint/2010/main" val="4017226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8D5616F9BF194488B07F0627BAB481" ma:contentTypeVersion="0" ma:contentTypeDescription="Create a new document." ma:contentTypeScope="" ma:versionID="a03a99aabb1e89e7b494f7f7c7c5383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f03dde4259c08ff71d8d05c94e2e9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CC52CD1-58C0-485B-9619-B9EBD43EE183}">
  <ds:schemaRefs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54A7D69-8D57-4DF2-9544-252FB4EB02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AA45360-03A4-4567-9FDE-03C8691D85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4762</TotalTime>
  <Words>180</Words>
  <Application>Microsoft Office PowerPoint</Application>
  <PresentationFormat>Widescreen</PresentationFormat>
  <Paragraphs>41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SamsungOne 600C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Saad Hashmi/Tech Mgmt /SRI-Bangalore/Professional/삼성전자</dc:creator>
  <cp:lastModifiedBy>Garima Rani/PRISM /SRI-Bangalore/Associate/Samsung Electronics</cp:lastModifiedBy>
  <cp:revision>56</cp:revision>
  <cp:lastPrinted>2019-06-27T12:08:24Z</cp:lastPrinted>
  <dcterms:created xsi:type="dcterms:W3CDTF">2019-04-12T08:37:01Z</dcterms:created>
  <dcterms:modified xsi:type="dcterms:W3CDTF">2025-02-07T05:33:10Z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ContentTypeId">
    <vt:lpwstr>0x010100168D5616F9BF194488B07F0627BAB481</vt:lpwstr>
  </property>
</Properties>
</file>